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答辩时可以先讲本页主标题，再按页面中的模块从左到右说明。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答辩时可以先讲本页主标题，再按页面中的模块从左到右说明。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答辩时可以先讲本页主标题，再按页面中的模块从左到右说明。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答辩时可以先讲本页主标题，再按页面中的模块从左到右说明。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答辩时可以先讲本页主标题，再按页面中的模块从左到右说明。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答辩时可以先讲本页主标题，再按页面中的模块从左到右说明。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课程大作业项目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9326880" y="2194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mountain_car_sim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85216"/>
            <a:ext cx="11201400" cy="0"/>
          </a:xfrm>
          <a:prstGeom prst="line">
            <a:avLst/>
          </a:prstGeom>
          <a:noFill/>
          <a:ln w="12700">
            <a:solidFill>
              <a:srgbClr val="D7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19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7315200" cy="950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ROS + Gazebo 的山地—城市融合场景多机器人协同仿真系统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63093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从原有“山地小车仿真”扩展为：山地地形、城市街景、地面小车、空中飞机/无人机共同运行的一键启动综合仿真环境。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27432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4EED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2092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山地地形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01952" y="27432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282092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城市街景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27432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282092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地面小车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62272" y="27432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82092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空中巡航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42432" y="274320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820924"/>
            <a:ext cx="10515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 launch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1792" y="3749040"/>
            <a:ext cx="3429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" y="3749040"/>
            <a:ext cx="54864" cy="11430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3913632"/>
            <a:ext cx="3044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最终演示效果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822960" y="4251960"/>
            <a:ext cx="304495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Gazebo 打开后可以同时看到山地道路、城市街区、连接道路、小车和低空巡航飞机/无人机。重点是稳定、直观、便于答辩展示。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4251960" y="3749040"/>
            <a:ext cx="3429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51960" y="3749040"/>
            <a:ext cx="54864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53128" y="3913632"/>
            <a:ext cx="3044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 package</a:t>
            </a:r>
            <a:endParaRPr lang="en-US" sz="1320" dirty="0"/>
          </a:p>
        </p:txBody>
      </p:sp>
      <p:sp>
        <p:nvSpPr>
          <p:cNvPr id="51" name="Text 49"/>
          <p:cNvSpPr/>
          <p:nvPr/>
        </p:nvSpPr>
        <p:spPr>
          <a:xfrm>
            <a:off x="4453128" y="4251960"/>
            <a:ext cx="304495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src/mountain_car_sim：包含 launch、worlds、models、urdf、scripts，所有新增场景和飞行控制都围绕该包组织。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7882128" y="3749040"/>
            <a:ext cx="3429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82128" y="3749040"/>
            <a:ext cx="54864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83296" y="3913632"/>
            <a:ext cx="3044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启动入口</a:t>
            </a:r>
            <a:endParaRPr lang="en-US" sz="1320" dirty="0"/>
          </a:p>
        </p:txBody>
      </p:sp>
      <p:sp>
        <p:nvSpPr>
          <p:cNvPr id="55" name="Text 53"/>
          <p:cNvSpPr/>
          <p:nvPr/>
        </p:nvSpPr>
        <p:spPr>
          <a:xfrm>
            <a:off x="8083296" y="4251960"/>
            <a:ext cx="304495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roslaunch mountain_car_sim mountain_city_air_demo.launch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 Noetic + Gazebo Classic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9326880" y="2194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mountain_car_sim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85216"/>
            <a:ext cx="11201400" cy="0"/>
          </a:xfrm>
          <a:prstGeom prst="line">
            <a:avLst/>
          </a:prstGeom>
          <a:noFill/>
          <a:ln w="12700">
            <a:solidFill>
              <a:srgbClr val="D7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19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2/6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系统功能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38988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围绕“能看、能跑、能控、能展示”四个目标组织功能。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2743200" cy="1234440"/>
          </a:xfrm>
          <a:prstGeom prst="rect">
            <a:avLst/>
          </a:prstGeom>
          <a:solidFill>
            <a:srgbClr val="E4EED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65960"/>
            <a:ext cx="54864" cy="123444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30552"/>
            <a:ext cx="23591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山地场景展示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95528" y="2468880"/>
            <a:ext cx="23591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保留原有山地主体 mesh，加入蛇形山路、岩石障碍、护栏、入口门架、警示牌、观景平台和植被细节。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520440" y="1965960"/>
            <a:ext cx="2743200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965960"/>
            <a:ext cx="54864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2130552"/>
            <a:ext cx="23591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城市街景展示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721608" y="2468880"/>
            <a:ext cx="23591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新增主干道、支路、十字路口、人行道、建筑群、路灯、树木、公交站、广告牌、施工区和停车位。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446520" y="1965960"/>
            <a:ext cx="2743200" cy="1234440"/>
          </a:xfrm>
          <a:prstGeom prst="rect">
            <a:avLst/>
          </a:prstGeom>
          <a:solidFill>
            <a:srgbClr val="FFF7ED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965960"/>
            <a:ext cx="54864" cy="1234440"/>
          </a:xfrm>
          <a:prstGeom prst="rect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2130552"/>
            <a:ext cx="23591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山地城市融合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647688" y="2468880"/>
            <a:ext cx="23591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使用泥土路、碎石层、沥青入口、护栏渐变、路牌和绿化把山地出口自然过渡到城市道路。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94360" y="352044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52044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685032"/>
            <a:ext cx="23591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地面小车运动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95528" y="4023360"/>
            <a:ext cx="23591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小车通过 URDF/Xacro 建模，保留 /cmd_vel 控制链路，支持手动控制和原有自动导航逻辑。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520440" y="3520440"/>
            <a:ext cx="2743200" cy="1234440"/>
          </a:xfrm>
          <a:prstGeom prst="rect">
            <a:avLst/>
          </a:prstGeom>
          <a:solidFill>
            <a:srgbClr val="FFF0E2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3520440"/>
            <a:ext cx="54864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3685032"/>
            <a:ext cx="23591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空中模型巡航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3721608" y="4023360"/>
            <a:ext cx="23591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简化飞机/无人机使用 SDF 基础几何体建模，由 ROS 节点调用 /gazebo/set_model_state 控制巡航轨迹。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446520" y="352044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520440"/>
            <a:ext cx="54864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3685032"/>
            <a:ext cx="23591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一键综合启动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6647688" y="4023360"/>
            <a:ext cx="23591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mountain_city_air_demo.launch 统一加载 world、小车、飞机/无人机和飞行控制脚本，降低现场演示操作成本。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9555480" y="1965960"/>
            <a:ext cx="1508760" cy="2788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0928" y="2212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演示关键词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20072" y="2651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11512" y="272948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融合场景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720072" y="315468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11512" y="323240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地面运动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720072" y="36576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11512" y="373532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空中巡航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720072" y="416052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11512" y="423824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稳定启动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 Noetic + Gazebo Classic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9326880" y="2194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mountain_car_sim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85216"/>
            <a:ext cx="11201400" cy="0"/>
          </a:xfrm>
          <a:prstGeom prst="line">
            <a:avLst/>
          </a:prstGeom>
          <a:noFill/>
          <a:ln w="12700">
            <a:solidFill>
              <a:srgbClr val="D7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19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实现技术架构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38988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 负责系统组织与节点控制，Gazebo 负责 world、模型加载和物理仿真。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572768" cy="1051560"/>
          </a:xfrm>
          <a:prstGeom prst="roundRect">
            <a:avLst>
              <a:gd name="adj" fmla="val 4348"/>
            </a:avLst>
          </a:prstGeom>
          <a:solidFill>
            <a:srgbClr val="EEF1F4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57400"/>
            <a:ext cx="1572768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4028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Launch 启动层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60120" y="2542032"/>
            <a:ext cx="1298448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统一加载综合 world、spawn 小车、启动飞行演示节点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2487168" y="2487168"/>
            <a:ext cx="347472" cy="201168"/>
          </a:xfrm>
          <a:prstGeom prst="rightArrow">
            <a:avLst/>
          </a:prstGeom>
          <a:solidFill>
            <a:srgbClr val="D7DDD4"/>
          </a:solidFill>
          <a:ln w="12700">
            <a:solidFill>
              <a:srgbClr val="D7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057400"/>
            <a:ext cx="1572768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2057400"/>
            <a:ext cx="1572768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224028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Gazebo World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200400" y="2542032"/>
            <a:ext cx="1298448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mountain_city_air_demo.world 融合山地、城市和空域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727448" y="2487168"/>
            <a:ext cx="347472" cy="201168"/>
          </a:xfrm>
          <a:prstGeom prst="rightArrow">
            <a:avLst/>
          </a:prstGeom>
          <a:solidFill>
            <a:srgbClr val="D7DDD4"/>
          </a:solidFill>
          <a:ln w="12700">
            <a:solidFill>
              <a:srgbClr val="D7D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057400"/>
            <a:ext cx="1572768" cy="1051560"/>
          </a:xfrm>
          <a:prstGeom prst="roundRect">
            <a:avLst>
              <a:gd name="adj" fmla="val 4348"/>
            </a:avLst>
          </a:prstGeom>
          <a:solidFill>
            <a:srgbClr val="EEF1F4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057400"/>
            <a:ext cx="1572768" cy="73152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224028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SDF / Mesh 模型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440680" y="2542032"/>
            <a:ext cx="1298448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道路、建筑、树木、路灯、飞机等模型化资源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6967728" y="2487168"/>
            <a:ext cx="347472" cy="201168"/>
          </a:xfrm>
          <a:prstGeom prst="rightArrow">
            <a:avLst/>
          </a:prstGeom>
          <a:solidFill>
            <a:srgbClr val="D7DDD4"/>
          </a:solidFill>
          <a:ln w="12700">
            <a:solidFill>
              <a:srgbClr val="D7DD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2057400"/>
            <a:ext cx="1572768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2057400"/>
            <a:ext cx="15727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224028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URDF / Xacro 小车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680960" y="2542032"/>
            <a:ext cx="1298448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mountain_car.xacro 定义底盘、车轮、碰撞和插件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9208008" y="2487168"/>
            <a:ext cx="347472" cy="201168"/>
          </a:xfrm>
          <a:prstGeom prst="rightArrow">
            <a:avLst/>
          </a:prstGeom>
          <a:solidFill>
            <a:srgbClr val="D7DDD4"/>
          </a:solidFill>
          <a:ln w="12700">
            <a:solidFill>
              <a:srgbClr val="D7DD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2057400"/>
            <a:ext cx="1572768" cy="1051560"/>
          </a:xfrm>
          <a:prstGeom prst="roundRect">
            <a:avLst>
              <a:gd name="adj" fmla="val 4348"/>
            </a:avLst>
          </a:prstGeom>
          <a:solidFill>
            <a:srgbClr val="EEF1F4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2057400"/>
            <a:ext cx="1572768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93808" y="2240280"/>
            <a:ext cx="135331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 控制节点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9921240" y="2542032"/>
            <a:ext cx="1298448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uav_patrol_demo.py 控制空中模型轨迹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868680" y="3822192"/>
            <a:ext cx="10195560" cy="1097280"/>
          </a:xfrm>
          <a:prstGeom prst="roundRect">
            <a:avLst>
              <a:gd name="adj" fmla="val 3333"/>
            </a:avLst>
          </a:prstGeom>
          <a:solidFill>
            <a:srgbClr val="EEF4EA"/>
          </a:solidFill>
          <a:ln w="10160">
            <a:solidFill>
              <a:srgbClr val="CAD8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5568" y="4187952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/gazebo/model_states  →  小车/飞机控制节点  →  /cmd_vel 或 /gazebo/set_model_state  →  Gazebo 模型状态更新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914400" y="5257800"/>
            <a:ext cx="9875520" cy="685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模型资源通过 model:// 引用，避免绝对路径，方便别人 clone 后复现。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新增内容尽量独立在 models/worlds/scripts/launch 中，保留原始山地小车功能。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空中巡航采用演示级状态控制，减少 PX4、MAVROS 等复杂依赖。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 Noetic + Gazebo Classic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9326880" y="2194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mountain_car_sim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85216"/>
            <a:ext cx="11201400" cy="0"/>
          </a:xfrm>
          <a:prstGeom prst="line">
            <a:avLst/>
          </a:prstGeom>
          <a:noFill/>
          <a:ln w="12700">
            <a:solidFill>
              <a:srgbClr val="D7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19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山地与城市是怎么做出来的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38988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主体地形使用 mesh，城市和细节主要用轻量 SDF 几何体搭建。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2880360" cy="1207008"/>
          </a:xfrm>
          <a:prstGeom prst="rect">
            <a:avLst/>
          </a:prstGeom>
          <a:solidFill>
            <a:srgbClr val="E4EED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65960"/>
            <a:ext cx="54864" cy="1207008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30552"/>
            <a:ext cx="249631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山地主体 mountain_terrain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95528" y="2468880"/>
            <a:ext cx="2496312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 mountain_terrain.dae 构造起伏地形，mountain_trail.dae 叠加蛇形土路；mesh 同时作为 visual 和 collision，让小车能与坡面接触。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94360" y="3429000"/>
            <a:ext cx="28803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429000"/>
            <a:ext cx="54864" cy="1207008"/>
          </a:xfrm>
          <a:prstGeom prst="rect">
            <a:avLst/>
          </a:prstGeom>
          <a:solidFill>
            <a:srgbClr val="174934"/>
          </a:solidFill>
          <a:ln w="12700">
            <a:solidFill>
              <a:srgbClr val="1749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593592"/>
            <a:ext cx="249631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山地细节 mountain_showcase_details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95528" y="3931920"/>
            <a:ext cx="2496312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通过独立 SDF 增加护栏、入口门架、警示牌、观景平台、帐篷、风向袋、松树、灌木、碎石等展示元素。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886200" y="1828800"/>
            <a:ext cx="4114800" cy="2788920"/>
          </a:xfrm>
          <a:prstGeom prst="rect">
            <a:avLst/>
          </a:prstGeom>
          <a:solidFill>
            <a:srgbClr val="F4F8F1"/>
          </a:solidFill>
          <a:ln w="10160">
            <a:solidFill>
              <a:srgbClr val="CAD8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212848"/>
            <a:ext cx="1399032" cy="2075688"/>
          </a:xfrm>
          <a:prstGeom prst="rect">
            <a:avLst/>
          </a:prstGeom>
          <a:solidFill>
            <a:srgbClr val="E2F0DC"/>
          </a:solidFill>
          <a:ln w="8890">
            <a:solidFill>
              <a:srgbClr val="B8D3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22392" y="2212848"/>
            <a:ext cx="1028700" cy="2075688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1092" y="2212848"/>
            <a:ext cx="1431036" cy="2075688"/>
          </a:xfrm>
          <a:prstGeom prst="rect">
            <a:avLst/>
          </a:prstGeom>
          <a:solidFill>
            <a:srgbClr val="EAF2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78808" y="2615184"/>
            <a:ext cx="841248" cy="749808"/>
          </a:xfrm>
          <a:prstGeom prst="triangle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2423160"/>
            <a:ext cx="1005840" cy="941832"/>
          </a:xfrm>
          <a:prstGeom prst="triangle">
            <a:avLst/>
          </a:prstGeom>
          <a:solidFill>
            <a:srgbClr val="4F8B62"/>
          </a:solidFill>
          <a:ln w="12700">
            <a:solidFill>
              <a:srgbClr val="4F8B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1688" y="3310128"/>
            <a:ext cx="1572768" cy="219456"/>
          </a:xfrm>
          <a:prstGeom prst="rect">
            <a:avLst/>
          </a:prstGeom>
          <a:solidFill>
            <a:srgbClr val="C08457"/>
          </a:solidFill>
          <a:ln w="12700">
            <a:solidFill>
              <a:srgbClr val="C084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90872" y="3054096"/>
            <a:ext cx="1234440" cy="146304"/>
          </a:xfrm>
          <a:prstGeom prst="rect">
            <a:avLst/>
          </a:prstGeom>
          <a:solidFill>
            <a:srgbClr val="D69B6A"/>
          </a:solidFill>
          <a:ln w="12700">
            <a:solidFill>
              <a:srgbClr val="D69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58968" y="2770632"/>
            <a:ext cx="73152" cy="384048"/>
          </a:xfrm>
          <a:prstGeom prst="rect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95544" y="3127248"/>
            <a:ext cx="360045" cy="329184"/>
          </a:xfrm>
          <a:prstGeom prst="rect">
            <a:avLst/>
          </a:prstGeom>
          <a:solidFill>
            <a:srgbClr val="C08457"/>
          </a:solidFill>
          <a:ln w="12700">
            <a:solidFill>
              <a:srgbClr val="C084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5589" y="3127248"/>
            <a:ext cx="288036" cy="329184"/>
          </a:xfrm>
          <a:prstGeom prst="rect">
            <a:avLst/>
          </a:prstGeom>
          <a:solidFill>
            <a:srgbClr val="B7B7A4"/>
          </a:solidFill>
          <a:ln w="12700">
            <a:solidFill>
              <a:srgbClr val="B7B7A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3625" y="3127248"/>
            <a:ext cx="360045" cy="329184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42432" y="2615184"/>
            <a:ext cx="644652" cy="201168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9692" y="3145536"/>
            <a:ext cx="1193292" cy="310896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01997" y="2487168"/>
            <a:ext cx="256032" cy="1417320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15445" y="2487168"/>
            <a:ext cx="286207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45101" y="2331720"/>
            <a:ext cx="314828" cy="7498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8550" y="2615184"/>
            <a:ext cx="200345" cy="4572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549" y="3675888"/>
            <a:ext cx="164592" cy="164592"/>
          </a:xfrm>
          <a:prstGeom prst="ellipse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1308" y="3675888"/>
            <a:ext cx="164592" cy="164592"/>
          </a:xfrm>
          <a:prstGeom prst="ellipse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0248" y="2139696"/>
            <a:ext cx="3328416" cy="0"/>
          </a:xfrm>
          <a:prstGeom prst="line">
            <a:avLst/>
          </a:prstGeom>
          <a:noFill/>
          <a:ln w="13970">
            <a:solidFill>
              <a:srgbClr val="F973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9512" y="2020824"/>
            <a:ext cx="274320" cy="201168"/>
          </a:xfrm>
          <a:prstGeom prst="rtTriangl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4361688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山地 mesh + 山路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5449824" y="4361688"/>
            <a:ext cx="9829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8A5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过渡道路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6478524" y="4361688"/>
            <a:ext cx="1339596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城市街区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5326380" y="1938528"/>
            <a:ext cx="14401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F973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空中巡航轨迹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8321040" y="1965960"/>
            <a:ext cx="2880360" cy="1207008"/>
          </a:xfrm>
          <a:prstGeom prst="rect">
            <a:avLst/>
          </a:prstGeom>
          <a:solidFill>
            <a:srgbClr val="EAF2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1965960"/>
            <a:ext cx="54864" cy="1207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22208" y="2130552"/>
            <a:ext cx="249631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城市主体 simple_city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8522208" y="2468880"/>
            <a:ext cx="2496312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道路、路口、人行道、建筑、树、路灯和路牌主要由 box、cylinder、sphere 组成，颜色和高度变化形成街区层次。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8321040" y="3429000"/>
            <a:ext cx="288036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3429000"/>
            <a:ext cx="54864" cy="1207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22208" y="3593592"/>
            <a:ext cx="249631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城市强化 showcase_city_details</a:t>
            </a:r>
            <a:endParaRPr lang="en-US" sz="1320" dirty="0"/>
          </a:p>
        </p:txBody>
      </p:sp>
      <p:sp>
        <p:nvSpPr>
          <p:cNvPr id="49" name="Text 47"/>
          <p:cNvSpPr/>
          <p:nvPr/>
        </p:nvSpPr>
        <p:spPr>
          <a:xfrm>
            <a:off x="8522208" y="3931920"/>
            <a:ext cx="2496312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增加店铺门面、广告牌、交通龙门架、停车区、施工围挡、飞行标识等，让第一眼展示效果更明显。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3611880" y="5074920"/>
            <a:ext cx="4617720" cy="502920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67328" y="5230368"/>
            <a:ext cx="43159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8A5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融合关键：mountain_city_transition 用泥土 → 碎石 → 沥青的连续道路，把山地出口自然接入城市主路。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ROS Noetic + Gazebo Classic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9326880" y="2194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mountain_car_sim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85216"/>
            <a:ext cx="11201400" cy="0"/>
          </a:xfrm>
          <a:prstGeom prst="line">
            <a:avLst/>
          </a:prstGeom>
          <a:noFill/>
          <a:ln w="12700">
            <a:solidFill>
              <a:srgbClr val="D7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19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车辆运动与空中巡航实现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38988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地面小车保留原有控制链路，空中模型采用稳定的演示级轨迹控制。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2971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2024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084832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地面小车：URDF/Xacro + Gazebo 插件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9536" y="2423160"/>
            <a:ext cx="25877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mountain_car.xacro 定义 base_link、车轮、碰撞体、惯量和外观；Gazebo 插件订阅 /cmd_vel，把速度命令转换为小车运动。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3401568"/>
            <a:ext cx="2971800" cy="1234440"/>
          </a:xfrm>
          <a:prstGeom prst="rect">
            <a:avLst/>
          </a:prstGeom>
          <a:solidFill>
            <a:srgbClr val="FFF0E2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401568"/>
            <a:ext cx="54864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566160"/>
            <a:ext cx="25877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空中模型：简化飞机/无人机 SDF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59536" y="3904488"/>
            <a:ext cx="2587752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simple_airplane 和 simple_drone 使用基础几何体建模：机身、机翼、尾翼或旋翼臂，启动轻、依赖少、答辩解释清楚。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977640" y="2103120"/>
            <a:ext cx="3840480" cy="242316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31343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地面小车控制链路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206240" y="2606040"/>
            <a:ext cx="98755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683764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键盘/自动节点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85232" y="2670048"/>
            <a:ext cx="292608" cy="201168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50992" y="260604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683764"/>
            <a:ext cx="530352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/cmd_vel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64808" y="2670048"/>
            <a:ext cx="292608" cy="201168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606040"/>
            <a:ext cx="74980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2683764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小车模型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06240" y="3429000"/>
            <a:ext cx="33832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36758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973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空中巡航控制链路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06240" y="3959352"/>
            <a:ext cx="84124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4037076"/>
            <a:ext cx="658368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巡航脚本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38928" y="4023360"/>
            <a:ext cx="292608" cy="201168"/>
          </a:xfrm>
          <a:prstGeom prst="rightArrow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3959352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4037076"/>
            <a:ext cx="54864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set_state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36792" y="4023360"/>
            <a:ext cx="292608" cy="201168"/>
          </a:xfrm>
          <a:prstGeom prst="rightArrow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02552" y="3959352"/>
            <a:ext cx="7863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4037076"/>
            <a:ext cx="60350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飞机模型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44568" y="4462272"/>
            <a:ext cx="270662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F973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飞机姿态 yaw 跟随运动方向，高度保持固定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8229600" y="1920240"/>
            <a:ext cx="2880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1920240"/>
            <a:ext cx="54864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0768" y="2084832"/>
            <a:ext cx="249631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飞行控制节点 uav_patrol_demo.py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8430768" y="2423160"/>
            <a:ext cx="2496312" cy="7955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节点等待 /gazebo/set_model_state 服务可用；按时间计算椭圆/巡航轨迹；持续设置 model_name、pose、twist，使飞机在城市和山地上方循环飞行。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229600" y="3611880"/>
            <a:ext cx="288036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3739896"/>
            <a:ext cx="2606040" cy="8778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参数示例：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model_name: patrol_airplane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altitude: 3.8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radius_x / radius_y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speed: 轨迹角速度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160520" y="4892040"/>
            <a:ext cx="6720840" cy="493776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0160">
            <a:solidFill>
              <a:srgbClr val="D7DD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3400" y="5056632"/>
            <a:ext cx="63550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技术取舍：不引入真实飞控，优先保证课程答辩现场稳定展示；复杂物理可作为后续拓展。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49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答辩演示流程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9326880" y="21945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mountain_car_sim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585216"/>
            <a:ext cx="11201400" cy="0"/>
          </a:xfrm>
          <a:prstGeom prst="line">
            <a:avLst/>
          </a:prstGeom>
          <a:noFill/>
          <a:ln w="12700">
            <a:solidFill>
              <a:srgbClr val="D7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419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6/6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040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启动、展示与总结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12648" y="138988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用一条命令打开综合场景，再按“场景 → 小车 → 飞机 → 技术实现”的顺序讲。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498348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048256"/>
            <a:ext cx="470916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cd ~/catkin_ws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catkin_make -DCATKIN_WHITELIST_PACKAGES="mountain_car_sim"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source devel/setup.bash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Menlo" panose="020B0609030804020204" pitchFamily="34" charset="0"/>
                <a:ea typeface="Menlo" panose="020B0609030804020204" pitchFamily="34" charset="-122"/>
                <a:cs typeface="Menlo" panose="020B0609030804020204" pitchFamily="34" charset="-120"/>
              </a:rPr>
              <a:t>roslaunch mountain_car_sim mountain_city_air_demo.launch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58368" y="3401568"/>
            <a:ext cx="4983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401568"/>
            <a:ext cx="54864" cy="141732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566160"/>
            <a:ext cx="459943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现场展示顺序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59536" y="3904488"/>
            <a:ext cx="4599432" cy="7955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先移动视角看山地、城市和连接道路；2. 观察小车加载在道路附近；3. 看飞机/无人机低空巡航；4. 说明 launch 一键组织多个模型和节点。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4983480" cy="1143000"/>
          </a:xfrm>
          <a:prstGeom prst="rect">
            <a:avLst/>
          </a:prstGeom>
          <a:solidFill>
            <a:srgbClr val="EAF2FF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920240"/>
            <a:ext cx="54864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2084832"/>
            <a:ext cx="459943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项目完成度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190488" y="2423160"/>
            <a:ext cx="459943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完成了从 Gazebo world 搭建、SDF/mesh 模型组织、URDF/Xacro 机器人建模、ROS launch 编排到 Gazebo 服务控制的完整仿真链路。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89320" y="3337560"/>
            <a:ext cx="4983480" cy="1143000"/>
          </a:xfrm>
          <a:prstGeom prst="rect">
            <a:avLst/>
          </a:prstGeom>
          <a:solidFill>
            <a:srgbClr val="FFF0E2"/>
          </a:solidFill>
          <a:ln w="9525">
            <a:solidFill>
              <a:srgbClr val="D7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3337560"/>
            <a:ext cx="54864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3502152"/>
            <a:ext cx="459943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答辩总结表达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190488" y="3840480"/>
            <a:ext cx="4599432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本项目重点不是单一模型，而是把山地、城市、地面机器人和空中机器人放进同一个可运行仿真系统，体现多场景、多模型、多运动对象协同。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9875520" cy="6858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稳定性优先：轻量 SDF 几何体 + 简化飞行控制，降低启动失败概率。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可扩展方向：加入更真实的无人机控制、路径规划、传感器、交通灯和更多动态障碍物。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答辩时强调：ROS 管系统，Gazebo 管世界和物理，SDF/URDF 管模型。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3040</Words>
  <Application>WPS 演示</Application>
  <PresentationFormat>On-screen Show (16:9)</PresentationFormat>
  <Paragraphs>227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Menlo</vt:lpstr>
      <vt:lpstr>Menlo</vt:lpstr>
      <vt:lpstr>Menlo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ROS Course 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山地-城市融合多机器人仿真系统</dc:title>
  <dc:creator>mountain_car_sim</dc:creator>
  <dc:subject>ROS + Gazebo 山地-城市融合多机器人仿真系统</dc:subject>
  <cp:lastModifiedBy>崔子霖</cp:lastModifiedBy>
  <cp:revision>2</cp:revision>
  <dcterms:created xsi:type="dcterms:W3CDTF">2026-06-07T15:38:06Z</dcterms:created>
  <dcterms:modified xsi:type="dcterms:W3CDTF">2026-06-07T15:38:06Z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1B58279F20D076795E90256A125CEACA_42</vt:lpwstr>
  </property>
</Properties>
</file>